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312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rion Bao" userId="86a2b12e41226f78" providerId="LiveId" clId="{4891CA31-0AE7-4ECE-B60E-21685528A7C5}"/>
    <pc:docChg chg="modSld sldOrd">
      <pc:chgData name="Tyrion Bao" userId="86a2b12e41226f78" providerId="LiveId" clId="{4891CA31-0AE7-4ECE-B60E-21685528A7C5}" dt="2026-09-13T17:26:04.942" v="14" actId="20577"/>
      <pc:docMkLst>
        <pc:docMk/>
      </pc:docMkLst>
      <pc:sldChg chg="modSp mod ord">
        <pc:chgData name="Tyrion Bao" userId="86a2b12e41226f78" providerId="LiveId" clId="{4891CA31-0AE7-4ECE-B60E-21685528A7C5}" dt="2026-09-13T17:24:52.910" v="4"/>
        <pc:sldMkLst>
          <pc:docMk/>
          <pc:sldMk cId="0" sldId="257"/>
        </pc:sldMkLst>
        <pc:picChg chg="mod">
          <ac:chgData name="Tyrion Bao" userId="86a2b12e41226f78" providerId="LiveId" clId="{4891CA31-0AE7-4ECE-B60E-21685528A7C5}" dt="2026-09-13T17:24:42.315" v="2" actId="1076"/>
          <ac:picMkLst>
            <pc:docMk/>
            <pc:sldMk cId="0" sldId="257"/>
            <ac:picMk id="3" creationId="{00000000-0000-0000-0000-000000000000}"/>
          </ac:picMkLst>
        </pc:picChg>
      </pc:sldChg>
      <pc:sldChg chg="modSp mod">
        <pc:chgData name="Tyrion Bao" userId="86a2b12e41226f78" providerId="LiveId" clId="{4891CA31-0AE7-4ECE-B60E-21685528A7C5}" dt="2026-09-13T17:25:15.200" v="5" actId="1076"/>
        <pc:sldMkLst>
          <pc:docMk/>
          <pc:sldMk cId="0" sldId="261"/>
        </pc:sldMkLst>
        <pc:spChg chg="mod">
          <ac:chgData name="Tyrion Bao" userId="86a2b12e41226f78" providerId="LiveId" clId="{4891CA31-0AE7-4ECE-B60E-21685528A7C5}" dt="2026-09-13T17:25:15.200" v="5" actId="107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Tyrion Bao" userId="86a2b12e41226f78" providerId="LiveId" clId="{4891CA31-0AE7-4ECE-B60E-21685528A7C5}" dt="2026-09-13T17:26:04.942" v="14" actId="20577"/>
        <pc:sldMkLst>
          <pc:docMk/>
          <pc:sldMk cId="0" sldId="266"/>
        </pc:sldMkLst>
        <pc:spChg chg="mod">
          <ac:chgData name="Tyrion Bao" userId="86a2b12e41226f78" providerId="LiveId" clId="{4891CA31-0AE7-4ECE-B60E-21685528A7C5}" dt="2026-09-13T17:26:04.942" v="14" actId="20577"/>
          <ac:spMkLst>
            <pc:docMk/>
            <pc:sldMk cId="0" sldId="266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781401"/>
            <a:ext cx="685800" cy="381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835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457450"/>
            <a:ext cx="11251406" cy="6494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115"/>
              </a:lnSpc>
            </a:pPr>
            <a:r>
              <a:rPr sz="4650" b="1" i="0" u="none">
                <a:solidFill>
                  <a:srgbClr val="F8FAFC"/>
                </a:solidFill>
                <a:latin typeface="Space Grotesk"/>
              </a:rPr>
              <a:t>AegisOR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59335"/>
            <a:ext cx="9501187" cy="3219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sz="1950" b="0" i="0" u="none">
                <a:solidFill>
                  <a:srgbClr val="94A3B8"/>
                </a:solidFill>
                <a:latin typeface="Plus Jakarta Sans"/>
              </a:rPr>
              <a:t>AI-Powered Operating Room Compliance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886051"/>
            <a:ext cx="6572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Real-time speech intelligence enforcing surgical protocols, closed-loop communications, and automated audit trails.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" y="2052637"/>
            <a:ext cx="3655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SURGICAL SAFETY &amp;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87848"/>
            <a:ext cx="3505200" cy="2124075"/>
          </a:xfrm>
          <a:prstGeom prst="roundRect">
            <a:avLst>
              <a:gd name="adj" fmla="val 7174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87848"/>
            <a:ext cx="3505200" cy="2124075"/>
          </a:xfrm>
          <a:prstGeom prst="roundRect">
            <a:avLst>
              <a:gd name="adj" fmla="val 7174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87848"/>
            <a:ext cx="3505200" cy="2124075"/>
          </a:xfrm>
          <a:prstGeom prst="roundRect">
            <a:avLst>
              <a:gd name="adj" fmla="val 7174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CLINICAL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The Cost of Communication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4356" y="3140273"/>
            <a:ext cx="3595687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284C7"/>
                </a:solidFill>
                <a:latin typeface="Space Grotesk"/>
              </a:rPr>
              <a:t>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356" y="3826073"/>
            <a:ext cx="35956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1E293B"/>
                </a:solidFill>
                <a:latin typeface="Plus Jakarta Sans"/>
              </a:rPr>
              <a:t>Root Cause of Sentinel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356" y="4121348"/>
            <a:ext cx="35956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64748B"/>
                </a:solidFill>
                <a:latin typeface="Plus Jakarta Sans"/>
              </a:rPr>
              <a:t>Communication failures drive preventable errors.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8156" y="3140273"/>
            <a:ext cx="3595687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284C7"/>
                </a:solidFill>
                <a:latin typeface="Space Grotesk"/>
              </a:rPr>
              <a:t>4,000+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8156" y="3826073"/>
            <a:ext cx="35956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293B"/>
                </a:solidFill>
                <a:latin typeface="Plus Jakarta Sans"/>
              </a:rPr>
              <a:t>Surgical Never Events Annually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8156" y="4121348"/>
            <a:ext cx="35956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64748B"/>
                </a:solidFill>
                <a:latin typeface="Plus Jakarta Sans"/>
              </a:rPr>
              <a:t>Wrong-site incisions and retained items.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1956" y="3140273"/>
            <a:ext cx="3595687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284C7"/>
                </a:solidFill>
                <a:latin typeface="Space Grotesk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1956" y="3826073"/>
            <a:ext cx="35956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293B"/>
                </a:solidFill>
                <a:latin typeface="Plus Jakarta Sans"/>
              </a:rPr>
              <a:t>Nursing Documentation 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1956" y="4121348"/>
            <a:ext cx="35956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Manual charting detracts from direct patient focus.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525" y="2040135"/>
            <a:ext cx="5476875" cy="3619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1" y="1479081"/>
            <a:ext cx="6356488" cy="40653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149923"/>
            <a:ext cx="17145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483298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816673"/>
            <a:ext cx="17145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PLATFORM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End-to-End Surgical Safety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687835"/>
            <a:ext cx="676334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Continuous Audio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125985"/>
            <a:ext cx="52482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AegisOR listens alongside the surgical team to automate mandatory documentation and mitigate human communication errors.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4126110"/>
            <a:ext cx="39766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Pre-incision Universal Protocol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4459485"/>
            <a:ext cx="381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Real-time order read-back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4792860"/>
            <a:ext cx="42148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Automated post-op EHR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06935"/>
            <a:ext cx="2072580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34580" y="3106935"/>
            <a:ext cx="2072580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59560" y="3106935"/>
            <a:ext cx="2072580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284541" y="3106935"/>
            <a:ext cx="2072580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09521" y="3106935"/>
            <a:ext cx="2072580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106935"/>
            <a:ext cx="207258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34580" y="3106935"/>
            <a:ext cx="207258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59560" y="3106935"/>
            <a:ext cx="207258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284541" y="3106935"/>
            <a:ext cx="207258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509521" y="3106935"/>
            <a:ext cx="207258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PIPELINE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5-Stage Continuous Verification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364110"/>
            <a:ext cx="21144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Space Grotesk"/>
              </a:rPr>
              <a:t>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707010"/>
            <a:ext cx="22201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Lexicon 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002285"/>
            <a:ext cx="178683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Domain model priming.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5080" y="3364110"/>
            <a:ext cx="21144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Space Grotesk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5080" y="3707010"/>
            <a:ext cx="22201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Time-Out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5080" y="4002285"/>
            <a:ext cx="178683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Universal protocol match.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0060" y="3364110"/>
            <a:ext cx="21144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Space Grotesk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0060" y="3707010"/>
            <a:ext cx="22201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Closed-Loop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0060" y="4002285"/>
            <a:ext cx="178683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Order read-back tracking.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5041" y="3364110"/>
            <a:ext cx="21144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Space Grotesk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5041" y="3707010"/>
            <a:ext cx="22201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Sign-Out 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5041" y="4002285"/>
            <a:ext cx="178683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Needle &amp; sponge tally.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0021" y="3364110"/>
            <a:ext cx="21144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Space Grotesk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0021" y="3707010"/>
            <a:ext cx="22201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EHR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0021" y="4002285"/>
            <a:ext cx="178683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Automated compliance sync.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49773"/>
            <a:ext cx="3505200" cy="1800225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49773"/>
            <a:ext cx="3505200" cy="1800225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59310"/>
            <a:ext cx="3505200" cy="1581150"/>
          </a:xfrm>
          <a:prstGeom prst="roundRect">
            <a:avLst>
              <a:gd name="adj" fmla="val 84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64098"/>
            <a:ext cx="3048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64098"/>
            <a:ext cx="3048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STAGE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Pre-Case Setup &amp; Lexicon 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683198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Specialty Presets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997523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Preloads orthopedics, laparoscopy, or cardiology terminology.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683198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Pharmacology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997523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Biases speech recognition toward procedure-specific drug names.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3425" y="3573660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Acoustic Model Priming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887985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Maximizes transcription precision amid OR ambient fan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72175" y="2935485"/>
            <a:ext cx="5610225" cy="1828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02804"/>
            <a:ext cx="4981575" cy="1228725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992760"/>
            <a:ext cx="15240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4307085"/>
            <a:ext cx="1524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4621410"/>
            <a:ext cx="15240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Pre-Op Time-Out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692598"/>
            <a:ext cx="653831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Automated Universal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111698"/>
            <a:ext cx="50768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Continuous listening detects mandatory safety briefings prior to initial incision.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3249810"/>
            <a:ext cx="5905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REAL-TIME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3535560"/>
            <a:ext cx="59055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Plus Jakarta Sans"/>
              </a:rPr>
              <a:t>Zero-Touch Checkpoints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3935610"/>
            <a:ext cx="50768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The system matches verbal assertions against EHR scheduled data without requiring manual touchscreen interaction.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3968948"/>
            <a:ext cx="26908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Patient Identity &amp; Consent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4283273"/>
            <a:ext cx="36075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Operative Site &amp; Side Confirmation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4597598"/>
            <a:ext cx="35837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Allergies &amp; Prophylactic Antibiotics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92623"/>
            <a:ext cx="5372100" cy="1914525"/>
          </a:xfrm>
          <a:prstGeom prst="roundRect">
            <a:avLst>
              <a:gd name="adj" fmla="val 69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764035"/>
            <a:ext cx="5372100" cy="2171700"/>
          </a:xfrm>
          <a:prstGeom prst="roundRect">
            <a:avLst>
              <a:gd name="adj" fmla="val 61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925" y="4007048"/>
            <a:ext cx="4743450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24625" y="4135635"/>
            <a:ext cx="4743450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11710"/>
            <a:ext cx="1714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083123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STAGE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Intra-Op Closed-Loop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97473"/>
            <a:ext cx="592931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Surgeon issues a medication dosage or critical action item.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468885"/>
            <a:ext cx="4838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AegisOR listens for repetition and marks the safety loop closed.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675" y="3206948"/>
            <a:ext cx="3000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1. Verbal Directive Issued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4149923"/>
            <a:ext cx="5572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"Administer 5,000 units Heparin."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525" y="3078360"/>
            <a:ext cx="29503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2. Read-Back &amp; Confirm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4278510"/>
            <a:ext cx="5524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Plus Jakarta Sans"/>
              </a:rPr>
              <a:t>"5,000 units Heparin pushed."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30723"/>
            <a:ext cx="3505200" cy="1838325"/>
          </a:xfrm>
          <a:prstGeom prst="roundRect">
            <a:avLst>
              <a:gd name="adj" fmla="val 72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30723"/>
            <a:ext cx="3505200" cy="1838325"/>
          </a:xfrm>
          <a:prstGeom prst="roundRect">
            <a:avLst>
              <a:gd name="adj" fmla="val 72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30723"/>
            <a:ext cx="3505200" cy="1838325"/>
          </a:xfrm>
          <a:prstGeom prst="roundRect">
            <a:avLst>
              <a:gd name="adj" fmla="val 72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3245048"/>
            <a:ext cx="3429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245048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3245048"/>
            <a:ext cx="2286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STAGE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Sign-Out &amp; Operative Reporting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451" y="3702248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Count Reconciliation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106" y="4016573"/>
            <a:ext cx="37861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Verbal needle, sponge, and tool tallies captured automatically.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8251" y="3702248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Specimen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2906" y="4016573"/>
            <a:ext cx="37861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Tissue labeling and margin descriptions confirmed verbally.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2051" y="3702248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Auto-Generated Draft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706" y="4016573"/>
            <a:ext cx="37861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Synthesizes procedure timestamps into an instant audit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11685"/>
            <a:ext cx="3505200" cy="1676400"/>
          </a:xfrm>
          <a:prstGeom prst="roundRect">
            <a:avLst>
              <a:gd name="adj" fmla="val 79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11685"/>
            <a:ext cx="3505200" cy="1676400"/>
          </a:xfrm>
          <a:prstGeom prst="roundRect">
            <a:avLst>
              <a:gd name="adj" fmla="val 79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11685"/>
            <a:ext cx="3505200" cy="1676400"/>
          </a:xfrm>
          <a:prstGeom prst="roundRect">
            <a:avLst>
              <a:gd name="adj" fmla="val 79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30773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30773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30773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STAGE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Audit Archival &amp; EHR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716535"/>
            <a:ext cx="30480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Syncs structured events directly to Epic, Cerner, and Meditech via FHIR APIs.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716535"/>
            <a:ext cx="30480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Generates time-stamped logs for clinical compliance and hospital risk defense.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16535"/>
            <a:ext cx="30480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Aggregates hospital-wide compliance dashboards to target quality training.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3326010"/>
            <a:ext cx="242530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EHR Interoperability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2525" y="3326010"/>
            <a:ext cx="253781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Immutable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96325" y="3326010"/>
            <a:ext cx="19877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Safety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30698"/>
            <a:ext cx="5372100" cy="2238375"/>
          </a:xfrm>
          <a:prstGeom prst="roundRect">
            <a:avLst>
              <a:gd name="adj" fmla="val 5957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730698"/>
            <a:ext cx="5372100" cy="2238375"/>
          </a:xfrm>
          <a:prstGeom prst="roundRect">
            <a:avLst>
              <a:gd name="adj" fmla="val 5957"/>
            </a:avLst>
          </a:prstGeom>
          <a:solidFill>
            <a:srgbClr val="F0FDF4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Traditional OR vs. AegisOR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45023"/>
            <a:ext cx="622577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B91C1C"/>
                </a:solidFill>
                <a:latin typeface="Plus Jakarta Sans"/>
              </a:rPr>
              <a:t>Manual OR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3045023"/>
            <a:ext cx="5667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5803D"/>
                </a:solidFill>
                <a:latin typeface="Plus Jakarta Sans"/>
              </a:rPr>
              <a:t>AegisOR Intelligent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435548"/>
            <a:ext cx="5929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7F1D1D"/>
                </a:solidFill>
                <a:latin typeface="Plus Jakarta Sans"/>
              </a:rPr>
              <a:t>• Paper-based time-outs prone to habituation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768923"/>
            <a:ext cx="5929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7F1D1D"/>
                </a:solidFill>
                <a:latin typeface="Plus Jakarta Sans"/>
              </a:rPr>
              <a:t>• Verbal orders unrecorded during emergencies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102298"/>
            <a:ext cx="5929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F1D1D"/>
                </a:solidFill>
                <a:latin typeface="Plus Jakarta Sans"/>
              </a:rPr>
              <a:t>• Heavy post-case administrative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435673"/>
            <a:ext cx="5929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F1D1D"/>
                </a:solidFill>
                <a:latin typeface="Plus Jakarta Sans"/>
              </a:rPr>
              <a:t>• Difficult retrospective malpractice audits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435548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4532D"/>
                </a:solidFill>
                <a:latin typeface="Plus Jakarta Sans"/>
              </a:rPr>
              <a:t>• Continuous hands-free checklist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768923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4532D"/>
                </a:solidFill>
                <a:latin typeface="Plus Jakarta Sans"/>
              </a:rPr>
              <a:t>• Automatic read-back confirmation logging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102298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4532D"/>
                </a:solidFill>
                <a:latin typeface="Plus Jakarta Sans"/>
              </a:rPr>
              <a:t>• Automated operative summaries in 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435673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4532D"/>
                </a:solidFill>
                <a:latin typeface="Plus Jakarta Sans"/>
              </a:rPr>
              <a:t>• Precise, timestamped objective audit trails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MEASURABLE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Clinical &amp; Operational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793" y="3202185"/>
            <a:ext cx="4318062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0284C7"/>
                </a:solidFill>
                <a:latin typeface="Space Grotesk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42" y="3964185"/>
            <a:ext cx="453396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Protocol Adherence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793" y="4278510"/>
            <a:ext cx="43180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Zero missed time-out safety checkpoints.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7043" y="3202185"/>
            <a:ext cx="4318062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0284C7"/>
                </a:solidFill>
                <a:latin typeface="Space Grotesk"/>
              </a:rPr>
              <a:t>-45m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9091" y="3964185"/>
            <a:ext cx="453396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Documentation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7043" y="4278510"/>
            <a:ext cx="43180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Saved per surgical team shift.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2840" y="3202185"/>
            <a:ext cx="2224969" cy="702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400" b="1" dirty="0">
                <a:solidFill>
                  <a:srgbClr val="0284C7"/>
                </a:solidFill>
                <a:latin typeface="Space Grotesk"/>
              </a:rPr>
              <a:t>Leading</a:t>
            </a:r>
            <a:endParaRPr sz="5400" b="1" i="0" u="none" dirty="0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07470" y="3964185"/>
            <a:ext cx="449570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Acoustic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6293" y="4278510"/>
            <a:ext cx="43180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Domain-tuned medical transcription.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67400" y="4329112"/>
            <a:ext cx="457200" cy="28575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995487"/>
            <a:ext cx="5334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128837"/>
            <a:ext cx="266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14602" y="2757487"/>
            <a:ext cx="236279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Space Grotesk"/>
              </a:rPr>
              <a:t>AegisOR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490912"/>
            <a:ext cx="7143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94A3B8"/>
                </a:solidFill>
                <a:latin typeface="Plus Jakarta Sans"/>
              </a:rPr>
              <a:t>Safeguarding surgical teams through real-time voice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4171" y="4662487"/>
            <a:ext cx="2583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Space Grotesk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478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Plus Jakarta Sans</vt:lpstr>
      <vt:lpstr>Space Grotesk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Tyrion Bao</cp:lastModifiedBy>
  <cp:revision>1</cp:revision>
  <dcterms:created xsi:type="dcterms:W3CDTF">2013-01-27T09:14:16Z</dcterms:created>
  <dcterms:modified xsi:type="dcterms:W3CDTF">2026-09-13T17:26:10Z</dcterms:modified>
  <cp:category/>
</cp:coreProperties>
</file>